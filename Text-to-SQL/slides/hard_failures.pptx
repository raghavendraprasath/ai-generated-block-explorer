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EDF3"/>
                </a:solidFill>
              </a:defRPr>
            </a:pPr>
            <a:r>
              <a:t>When Text-to-SQL Fails</a:t>
            </a:r>
          </a:p>
          <a:p>
            <a:pPr>
              <a:spcBef>
                <a:spcPts val="1200"/>
              </a:spcBef>
              <a:defRPr sz="2000">
                <a:solidFill>
                  <a:srgbClr val="F7931A"/>
                </a:solidFill>
              </a:defRPr>
            </a:pPr>
            <a:r>
              <a:t>INFO7500 · Homework 3 · Block Explorer AI</a:t>
            </a:r>
          </a:p>
          <a:p>
            <a:pPr>
              <a:spcBef>
                <a:spcPts val="1200"/>
              </a:spcBef>
              <a:defRPr sz="1800">
                <a:solidFill>
                  <a:srgbClr val="8B949E"/>
                </a:solidFill>
              </a:defRPr>
            </a:pPr>
            <a:r>
              <a:t>Three hard cases where incorrect SQL still returns a plausible wrong answer</a:t>
            </a:r>
          </a:p>
          <a:p>
            <a:pPr>
              <a:spcBef>
                <a:spcPts val="1200"/>
              </a:spcBef>
              <a:defRPr sz="1400">
                <a:solidFill>
                  <a:srgbClr val="8B949E"/>
                </a:solidFill>
              </a:defRPr>
            </a:pPr>
            <a:r>
              <a:t>Reference: Spider 2.0 Text-to-SQL leaderboard</a:t>
            </a:r>
          </a:p>
          <a:p>
            <a:pPr>
              <a:spcBef>
                <a:spcPts val="1200"/>
              </a:spcBef>
              <a:defRPr sz="1400">
                <a:solidFill>
                  <a:srgbClr val="8B949E"/>
                </a:solidFill>
              </a:defRPr>
            </a:pPr>
            <a:r>
              <a:t>Data: tests/hard_failures.json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931A"/>
                </a:solidFill>
              </a:defRPr>
            </a:pPr>
            <a:r>
              <a:t>Case 1 — Column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DF3"/>
                </a:solidFill>
              </a:defRPr>
            </a:pPr>
            <a:r>
              <a:t>Question: What is the hash of the block at the maximum height?</a:t>
            </a:r>
          </a:p>
        </p:txBody>
      </p:sp>
      <p:pic>
        <p:nvPicPr>
          <p:cNvPr id="4" name="Picture 3" descr="case1_column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8503920" cy="2179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Why it's hard: Live LLM returned block height instead of block hash (run_tests.py --live, test #11).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931A"/>
                </a:solidFill>
              </a:defRPr>
            </a:pPr>
            <a:r>
              <a:t>Case 2 — Aggregation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DF3"/>
                </a:solidFill>
              </a:defRPr>
            </a:pPr>
            <a:r>
              <a:t>Question: Which block height has the most transactions?</a:t>
            </a:r>
          </a:p>
        </p:txBody>
      </p:sp>
      <p:pic>
        <p:nvPicPr>
          <p:cNvPr id="4" name="Picture 3" descr="case2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8503920" cy="23651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Why it's hard: MAX(block_height) is the highest block containing any tx, not the block with the largest transaction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931A"/>
                </a:solidFill>
              </a:defRPr>
            </a:pPr>
            <a:r>
              <a:t>Case 3 — Domain enums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DF3"/>
                </a:solidFill>
              </a:defRPr>
            </a:pPr>
            <a:r>
              <a:t>Question: What is the total BTC value of all pubkeyhash (P2PKH) outputs?</a:t>
            </a:r>
          </a:p>
        </p:txBody>
      </p:sp>
      <p:pic>
        <p:nvPicPr>
          <p:cNvPr id="4" name="Picture 3" descr="case3_scrip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8503920" cy="23651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Why it's hard: Live LLM often confuses P2PK (`pubkey`) with P2PKH (`pubkeyhash`) script types.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6EDF3"/>
                </a:solidFill>
              </a:defRPr>
            </a:pPr>
            <a:r>
              <a:t>Takeaway</a:t>
            </a:r>
          </a:p>
          <a:p>
            <a:pPr>
              <a:spcBef>
                <a:spcPts val="1000"/>
              </a:spcBef>
              <a:defRPr sz="2000">
                <a:solidFill>
                  <a:srgbClr val="C9D1D9"/>
                </a:solidFill>
              </a:defRPr>
            </a:pPr>
            <a:r>
              <a:t>Schema in context is not enough for free LLMs</a:t>
            </a:r>
          </a:p>
          <a:p>
            <a:pPr>
              <a:spcBef>
                <a:spcPts val="1000"/>
              </a:spcBef>
              <a:defRPr sz="2000">
                <a:solidFill>
                  <a:srgbClr val="C9D1D9"/>
                </a:solidFill>
              </a:defRPr>
            </a:pPr>
            <a:r>
              <a:t>Failures: wrong column, wrong aggregation, wrong enum</a:t>
            </a:r>
          </a:p>
          <a:p>
            <a:pPr>
              <a:spcBef>
                <a:spcPts val="1000"/>
              </a:spcBef>
              <a:defRPr sz="2000">
                <a:solidFill>
                  <a:srgbClr val="C9D1D9"/>
                </a:solidFill>
              </a:defRPr>
            </a:pPr>
            <a:r>
              <a:t>Wrong SQL can still execute and look plausible</a:t>
            </a:r>
          </a:p>
          <a:p>
            <a:pPr>
              <a:spcBef>
                <a:spcPts val="1000"/>
              </a:spcBef>
              <a:defRPr sz="2000">
                <a:solidFill>
                  <a:srgbClr val="C9D1D9"/>
                </a:solidFill>
              </a:defRPr>
            </a:pPr>
            <a:r>
              <a:t>Golden SQL tests (12/12) validate the database; live LLM is the weak link</a:t>
            </a:r>
          </a:p>
          <a:p>
            <a:pPr>
              <a:spcBef>
                <a:spcPts val="1000"/>
              </a:spcBef>
              <a:defRPr sz="2000">
                <a:solidFill>
                  <a:srgbClr val="C9D1D9"/>
                </a:solidFill>
              </a:defRPr>
            </a:pPr>
            <a:r>
              <a:t>Block Explorer AI · Text-to-SQL/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